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29-4D08-B2DA-393013672B88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29-4D08-B2DA-393013672B88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29-4D08-B2DA-393013672B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Cluster 0
Mid-Range</c:v>
                </c:pt>
                <c:pt idx="1">
                  <c:v>Cluster 1
Premium</c:v>
                </c:pt>
                <c:pt idx="2">
                  <c:v>Cluster 2
Budget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22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29-4D08-B2DA-393013672B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97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754880" cy="4754880"/>
          </a:xfrm>
          <a:prstGeom prst="ellipse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9184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" y="1051560"/>
            <a:ext cx="73152" cy="2148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6053  ·  Austin Airbnb Investment Analysis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316736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Homes Deliver the Best ROI
</a:t>
            </a: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Austin's Short-Term Rental Market ? 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strategy for the Austin Airbnb investor powered by K-Means Clustering &amp; XGBoost 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803904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935" y="3913632"/>
            <a:ext cx="78499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Yiran Liu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ANALYTICAL FRAMEWORK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BizML Steps: Value · Target · Performance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033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INVESTOR'S CHALLENGE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3858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estate investor is considering purchasing a property in Austin, TX to generate passive income via Airbnb but the short-term rental market is complex.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drives nightly rental price?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determines whether a unit stays booked?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property segment offers the best risk-adjusted return?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3520440"/>
            <a:ext cx="3840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3602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GOAL (VALUE)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822192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highest-ROI property segment and provide a data-driven listing strategy that maximises both nightly rate and occupancy.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3251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32511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106984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36592" y="1325880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nightly rental price (continuous → regression target: log_price). Secondary: identify which segment achieves the highest booking rate (availability_90 &lt; 40 days).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276856"/>
            <a:ext cx="43251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2276856"/>
            <a:ext cx="432511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6592" y="238658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2642616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Adjusted R² and MAPE on hold-out test set (80/20 split). Clustering: Silhouette score + elbow plot. We prioritise test Adj R² to guard against overfitting.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3593592"/>
            <a:ext cx="43251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593592"/>
            <a:ext cx="4325112" cy="502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370332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592" y="395935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5,835 Austin Airbnb listings · 54 variables · Source: Inside Airbnb. After cleaning (dropping missing values on key fields + 99th pct price cap): 3,130 model-ready rows.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ANALYTICAL APPROACH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BizML Step: Algorithm two methods, one unified objective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69264"/>
            <a:ext cx="157276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435608"/>
            <a:ext cx="15727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84248" y="914400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84248" y="969264"/>
            <a:ext cx="157276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84248" y="1435608"/>
            <a:ext cx="15727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rows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9896" y="914400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39896" y="969264"/>
            <a:ext cx="157276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39896" y="1435608"/>
            <a:ext cx="15727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95544" y="914400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95544" y="969264"/>
            <a:ext cx="157276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95544" y="1435608"/>
            <a:ext cx="15727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51192" y="914400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51192" y="969264"/>
            <a:ext cx="157276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51192" y="1435608"/>
            <a:ext cx="15727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nightly price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1920240"/>
            <a:ext cx="422452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1920240"/>
            <a:ext cx="422452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6616" y="248716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20482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 K-Means Clustering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245059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3,130 listings into distinct segments based on price, size, room type, and availability. Provides an investor-ready segment map without requiring a labelled target.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bedrooms, bathrooms, accommodates, room_type (encoded), review_scores_rating, availability_90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6616" y="3749040"/>
            <a:ext cx="3931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6616" y="380390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plot + silhouette score across k=2–6. k=3 chosen: elbow bends sharply, silhouette = 0.30 (peaked at k=2=0.35 but 2 groups lacks actionability).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1920240"/>
            <a:ext cx="422452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90872" y="1920240"/>
            <a:ext cx="422452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8888" y="24871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1888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30952" y="20482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 XGBoost Regression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30952" y="245059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log(nightly price) a continuous target. Chosen because it captures non-linear relationships and feature interactions that linear regression cannot, while remaining interpretable via feature importance.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30952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bedrooms, bathrooms, accommodates, room_type, property_type, neighbourhood, cleaning_fee, amenity flags, cluster label, instant_bookable, host_is_superhost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18888" y="3749040"/>
            <a:ext cx="3931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18888" y="380390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split. 5 models evaluated. Hyperparameters tuned via Optuna (Bayesian optimisation). Selected on best test Adj R².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RESULTS — 3 INVESTOR SEGMENTS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BizML Step: Algorithm cluster profiles &amp; validation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93268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932688"/>
            <a:ext cx="2798064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69848"/>
            <a:ext cx="2578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698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" y="139903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0: Mid-Range Entire Homes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" y="179222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1,581 listings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" y="2066544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2066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56232" y="2066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$174/night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" y="2468880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468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56232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beds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" y="2871216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28712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56232" y="2871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" y="3273552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32735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56232" y="3273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" y="37033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booking rate. Largest segment. Entire home/apt. Best balance of price &amp; consistent cash flow.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36392" y="93268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36392" y="932688"/>
            <a:ext cx="2798064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1069848"/>
            <a:ext cx="25786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10698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73552" y="139903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1: Premium Large Homes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73552" y="179222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listings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73552" y="2066544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4992" y="2066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2066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$479/night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73552" y="2468880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4992" y="2468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beds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73552" y="2871216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4992" y="28712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2871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73552" y="3273552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64992" y="32735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28032" y="3273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73552" y="37033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per-stay revenue but vacant 78% of the time. Suited for event / group travel only.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08192" y="932688"/>
            <a:ext cx="2798064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08192" y="932688"/>
            <a:ext cx="2798064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17920" y="1069848"/>
            <a:ext cx="257860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7920" y="106984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45352" y="139903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2: Budget Private Rooms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45352" y="179222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 listings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45352" y="2066544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36792" y="2066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799832" y="2066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$85/night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45352" y="2468880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36792" y="2468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99832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bed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45352" y="2871216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36792" y="28712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799832" y="2871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 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45352" y="3273552"/>
            <a:ext cx="2523744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36792" y="32735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799832" y="3273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45352" y="37033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 AND low booking rate. Least attractive segment for investor returns.</a:t>
            </a:r>
            <a:endParaRPr lang="en-US" sz="950" dirty="0"/>
          </a:p>
        </p:txBody>
      </p:sp>
      <p:graphicFrame>
        <p:nvGraphicFramePr>
          <p:cNvPr id="63" name="Chart 0"/>
          <p:cNvGraphicFramePr/>
          <p:nvPr/>
        </p:nvGraphicFramePr>
        <p:xfrm>
          <a:off x="164592" y="4389120"/>
          <a:ext cx="8823960" cy="658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4" name="Text 61"/>
          <p:cNvSpPr/>
          <p:nvPr/>
        </p:nvSpPr>
        <p:spPr>
          <a:xfrm>
            <a:off x="164592" y="4334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 (%)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VALIDATION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5635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BizML Step: Algorithm evaluation metrics on train &amp; test samples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1148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88696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VALIDATION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623293341"/>
              </p:ext>
            </p:extLst>
          </p:nvPr>
        </p:nvGraphicFramePr>
        <p:xfrm>
          <a:off x="320040" y="1307592"/>
          <a:ext cx="3840480" cy="2250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384048" y="3679766"/>
            <a:ext cx="3785616" cy="107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selected: Elbow plot shows steepest inertia drop at k=3. Silhouette peaks at k=2 (0.35) but yields only 2 undifferentiated groups. k=3 (score = 0.30) delivers 3 actionable investor segments  Budget Private Rooms, Mid-Range Entire Homes, Premium Large Homes  each with distinct pricing and booking profiles.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26280" y="804672"/>
            <a:ext cx="437083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26280" y="804672"/>
            <a:ext cx="4370832" cy="502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81728" y="8869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 — MODEL COMPARISON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975468"/>
              </p:ext>
            </p:extLst>
          </p:nvPr>
        </p:nvGraphicFramePr>
        <p:xfrm>
          <a:off x="4663440" y="1152144"/>
          <a:ext cx="4114800" cy="173736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Adj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</a:t>
                      </a:r>
                      <a:r>
                        <a:rPr lang="en-US" sz="1000" b="1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681728" y="301752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Tuned XGBoost is the right model: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81728" y="3291840"/>
            <a:ext cx="40416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Adj R² (0.671)  explains 67% of price variance on unseen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MAPE (31.5%)  predictions off by ~$55 on average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 of 0.116 is acceptable (Random Forest gap = 0.345)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linear models by capturing neighbourhood &amp; amenity non-linearity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unexplained variance = unobservable factors (photos, seasonality, host discretion)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B90AD4A-351F-D822-2816-450FD16DF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03676"/>
            <a:ext cx="3785616" cy="25760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01168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BizML Step: Launch translating results into business meaning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4279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0896" y="160934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1704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= #1 Price Driver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15727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tops the XGBoost feature importance at 22.1%, followed by cluster label (15.0%) and bathrooms (7.3%). Physical size dominates pricing.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488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Impact: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2-bedroom over 1-bedroom to capture a meaningful price premium while staying in the mid-range sweet spot.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1078992"/>
            <a:ext cx="4279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1078992"/>
            <a:ext cx="427939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60934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11704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Beats Premium on Occupancy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15727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($174/night) achieves 34% booking rate vs. 22% for premium ($479/night) and 23% for budget ($85/night).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12080" y="21488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Impact: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booked nights per 90-day window = ~$5,400/quarter in predictable revenue — vs. volatile premium strategy.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852928"/>
            <a:ext cx="4279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2852928"/>
            <a:ext cx="4279392" cy="502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0896" y="3383280"/>
            <a:ext cx="365760" cy="36576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" y="294436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Tub Adds ~$200 Nightly Premium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" y="33467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a hot tub average $472/night vs. $274 without — a $198 difference. Pool adds a smaller ~$33 premium.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" y="39227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Impact: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hot tub pre-listing is the highest-ROI physical upgrade. Particularly effective in the mid-range segment.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45152" y="2852928"/>
            <a:ext cx="4279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45152" y="2852928"/>
            <a:ext cx="427939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94436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the Most Durable Price Driver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33467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neighbourhoods (Tarrytown, Zilker, Bryker Woods) command 2–4× the Austin average. Neighbourhood ranks among the top categorical price predictors.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39227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Impact: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cannot be changed post-purchase. Central/university-adjacent neighbourhoods offer the most stable long-run demand.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7830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FINAL RECOMMENDATIONS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Cluster 0 Properties Offer the Best Risk-Adjusted Returns in the Austin Airbnb Market</a:t>
            </a:r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8686800" cy="1444752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PRIMARY RECOMMENDATION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8620" y="1069848"/>
            <a:ext cx="8275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200" dirty="0"/>
              <a:t>Invest in Cluster 0 properties:</a:t>
            </a:r>
            <a:br>
              <a:rPr lang="en-US" altLang="zh-CN" sz="1200" dirty="0"/>
            </a:br>
            <a:r>
              <a:rPr lang="en-US" altLang="zh-CN" sz="1200" dirty="0"/>
              <a:t>2-bedroom entire homes accommodating 3–4 guests in central Austin. This segment offers the best risk-adjusted return due to:</a:t>
            </a:r>
          </a:p>
          <a:p>
            <a:pPr marL="228600" indent="-228600">
              <a:buAutoNum type="arabicParenBoth"/>
            </a:pPr>
            <a:r>
              <a:rPr lang="en-US" altLang="zh-CN" sz="1200" dirty="0"/>
              <a:t>Highest occupancy rate (34%) </a:t>
            </a:r>
          </a:p>
          <a:p>
            <a:pPr marL="228600" indent="-228600">
              <a:buAutoNum type="arabicParenBoth"/>
            </a:pPr>
            <a:r>
              <a:rPr lang="en-US" altLang="zh-CN" sz="1200" dirty="0"/>
              <a:t>Strong nightly pricing ($150–$200, avg $174) </a:t>
            </a:r>
          </a:p>
          <a:p>
            <a:pPr marL="228600" indent="-228600">
              <a:buAutoNum type="arabicParenBoth"/>
            </a:pPr>
            <a:r>
              <a:rPr lang="en-US" altLang="zh-CN" sz="1200" dirty="0"/>
              <a:t>Large and stable market demand (1,581 listings)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2304288"/>
            <a:ext cx="2816352" cy="2651760"/>
          </a:xfrm>
          <a:prstGeom prst="rect">
            <a:avLst/>
          </a:prstGeom>
          <a:solidFill>
            <a:srgbClr val="1A355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2304288"/>
            <a:ext cx="28163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2542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nightly rate at $150–$200 (Cluster 0 avg: $174).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dynamic pricing (PriceLabs / Beyond) to capture event premiums during ACL, SXSW, F1.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upgrading to hot tub to justify $200–$250/night.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304288"/>
            <a:ext cx="2816352" cy="2651760"/>
          </a:xfrm>
          <a:prstGeom prst="rect">
            <a:avLst/>
          </a:prstGeom>
          <a:solidFill>
            <a:srgbClr val="1A355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2304288"/>
            <a:ext cx="28163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23957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HOST SETUP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2724912"/>
            <a:ext cx="2542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instant booking to increase booking probability.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minimum nights at 1–3 to maximise availability.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high guest ratings to increase visibility, attract more bookings, and support premium pricing.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status, which improves search visibility and booking rates.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304288"/>
            <a:ext cx="2816352" cy="2651760"/>
          </a:xfrm>
          <a:prstGeom prst="rect">
            <a:avLst/>
          </a:prstGeom>
          <a:solidFill>
            <a:srgbClr val="1A355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7336" y="2304288"/>
            <a:ext cx="281635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23957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FINANCIAL IMPACT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54496" y="2724912"/>
            <a:ext cx="2542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revenue:$174/night × 34% occupancy × 365 days ≈ $21,600 annual revenue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premium amenities, such as hot tubs, revenue could increase to ~$26,000 annually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luxury listings can reach ~$38,500 annual revenue, their much higher vacancy rates make them significantly riskier investments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1297</Words>
  <Application>Microsoft Office PowerPoint</Application>
  <PresentationFormat>On-screen Show (16:9)</PresentationFormat>
  <Paragraphs>159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Austin Airbnb Investment Analysis</dc:title>
  <dc:subject>PptxGenJS Presentation</dc:subject>
  <dc:creator>PptxGenJS</dc:creator>
  <cp:lastModifiedBy>Liu, Yiran</cp:lastModifiedBy>
  <cp:revision>4</cp:revision>
  <dcterms:created xsi:type="dcterms:W3CDTF">2026-03-07T00:05:49Z</dcterms:created>
  <dcterms:modified xsi:type="dcterms:W3CDTF">2026-03-16T00:32:33Z</dcterms:modified>
</cp:coreProperties>
</file>